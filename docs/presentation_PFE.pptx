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81" r:id="rId3"/>
    <p:sldId id="258" r:id="rId4"/>
    <p:sldId id="259" r:id="rId5"/>
    <p:sldId id="260" r:id="rId6"/>
    <p:sldId id="261" r:id="rId7"/>
    <p:sldId id="262" r:id="rId8"/>
    <p:sldId id="263" r:id="rId9"/>
    <p:sldId id="279" r:id="rId10"/>
    <p:sldId id="278" r:id="rId11"/>
    <p:sldId id="277" r:id="rId12"/>
    <p:sldId id="276" r:id="rId13"/>
    <p:sldId id="280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8"/>
    <a:srgbClr val="FFFFFF"/>
    <a:srgbClr val="CBDAEC"/>
    <a:srgbClr val="CACACA"/>
    <a:srgbClr val="6D8C9B"/>
    <a:srgbClr val="9D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20" autoAdjust="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9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fr-FR" sz="1300" b="0" i="0" u="none" strike="noStrike">
                <a:solidFill>
                  <a:srgbClr val="1B2A4A"/>
                </a:solidFill>
                <a:latin typeface="Calibri"/>
              </a:rPr>
              <a:t>F1-Score et Recall par modèle (test)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
Forest</c:v>
                </c:pt>
                <c:pt idx="1">
                  <c:v>SVM</c:v>
                </c:pt>
                <c:pt idx="2">
                  <c:v>K-Means</c:v>
                </c:pt>
                <c:pt idx="3">
                  <c:v>RNN</c:v>
                </c:pt>
                <c:pt idx="4">
                  <c:v>LSTM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88.3</c:v>
                </c:pt>
                <c:pt idx="1">
                  <c:v>19.100000000000001</c:v>
                </c:pt>
                <c:pt idx="2">
                  <c:v>52.6</c:v>
                </c:pt>
                <c:pt idx="3">
                  <c:v>93.3</c:v>
                </c:pt>
                <c:pt idx="4">
                  <c:v>91.8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C1-49EF-B83C-C7D38F06A8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E9B4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
Forest</c:v>
                </c:pt>
                <c:pt idx="1">
                  <c:v>SVM</c:v>
                </c:pt>
                <c:pt idx="2">
                  <c:v>K-Means</c:v>
                </c:pt>
                <c:pt idx="3">
                  <c:v>RNN</c:v>
                </c:pt>
                <c:pt idx="4">
                  <c:v>LSTM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84.7</c:v>
                </c:pt>
                <c:pt idx="1">
                  <c:v>86.7</c:v>
                </c:pt>
                <c:pt idx="2">
                  <c:v>35.700000000000003</c:v>
                </c:pt>
                <c:pt idx="3">
                  <c:v>91.8</c:v>
                </c:pt>
                <c:pt idx="4">
                  <c:v>89.9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AC1-49EF-B83C-C7D38F06A8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A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fr-FR" sz="1300" b="0" i="0" u="none" strike="noStrike">
                <a:solidFill>
                  <a:srgbClr val="1B2A4A"/>
                </a:solidFill>
                <a:latin typeface="Calibri"/>
              </a:rPr>
              <a:t>F1-Score et Accuracy par modèle (test)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SVM</c:v>
                </c:pt>
                <c:pt idx="2">
                  <c:v>K-Means</c:v>
                </c:pt>
                <c:pt idx="3">
                  <c:v>RNN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</c:v>
                </c:pt>
                <c:pt idx="1">
                  <c:v>96.3</c:v>
                </c:pt>
                <c:pt idx="2">
                  <c:v>90.1</c:v>
                </c:pt>
                <c:pt idx="3">
                  <c:v>99.9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14-45C2-AA5C-EFA3960096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SVM</c:v>
                </c:pt>
                <c:pt idx="2">
                  <c:v>K-Means</c:v>
                </c:pt>
                <c:pt idx="3">
                  <c:v>RNN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99.9</c:v>
                </c:pt>
                <c:pt idx="1">
                  <c:v>96.3</c:v>
                </c:pt>
                <c:pt idx="2">
                  <c:v>90.5</c:v>
                </c:pt>
                <c:pt idx="3">
                  <c:v>99.9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14-45C2-AA5C-EFA3960096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fr-F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4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2"/>
                </a:solidFill>
                <a:latin typeface="Arial"/>
              </a:defRPr>
            </a:pPr>
            <a:endParaRPr lang="fr-F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4A"/>
              </a:solidFill>
            </a:defRPr>
          </a:pPr>
          <a:endParaRPr lang="fr-FR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793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EC853-191A-1A56-0FBB-FA4546F65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5C7D2-186C-F0CB-07DC-D5BDEE15C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A6903-FF67-8DAE-ECCD-B2B75529F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7D181-369D-6A38-A965-A0823E3CD1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70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BD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0" y="19202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8C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69848" y="2286000"/>
            <a:ext cx="10058400" cy="1737360"/>
          </a:xfrm>
          <a:prstGeom prst="rect">
            <a:avLst/>
          </a:prstGeom>
          <a:solidFill>
            <a:srgbClr val="CBDAEC"/>
          </a:solidFill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des </a:t>
            </a:r>
            <a:r>
              <a:rPr lang="en-US" sz="34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Fraudes</a:t>
            </a: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bancaires</a:t>
            </a: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 </a:t>
            </a:r>
            <a:r>
              <a:rPr lang="en-US" sz="34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Massive</a:t>
            </a:r>
            <a:endParaRPr lang="en-US" sz="3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Données et Intelligence Artificielle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WAFAE BOUAJAJA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Intelligence Artificielle et Cybersécurité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Faculté des Sciences de Kénitra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5806440"/>
            <a:ext cx="3410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Prof. Hajar Filali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0" y="6080760"/>
            <a:ext cx="3410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2025 -- 2026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8"/>
            <a:ext cx="2679192" cy="1444752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pic>
        <p:nvPicPr>
          <p:cNvPr id="13" name="Image 0" descr="logo_fs_kenit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99" y="186397"/>
            <a:ext cx="3218375" cy="1612859"/>
          </a:xfrm>
          <a:prstGeom prst="rect">
            <a:avLst/>
          </a:prstGeom>
          <a:ln>
            <a:solidFill>
              <a:srgbClr val="CBDAEC"/>
            </a:solidFill>
          </a:ln>
        </p:spPr>
      </p:pic>
      <p:sp>
        <p:nvSpPr>
          <p:cNvPr id="14" name="Shape 11"/>
          <p:cNvSpPr/>
          <p:nvPr/>
        </p:nvSpPr>
        <p:spPr>
          <a:xfrm>
            <a:off x="9383151" y="155448"/>
            <a:ext cx="2305929" cy="1444752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r-FR" dirty="0"/>
          </a:p>
        </p:txBody>
      </p:sp>
      <p:pic>
        <p:nvPicPr>
          <p:cNvPr id="15" name="Image 1" descr="logo_ibntof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031" y="186397"/>
            <a:ext cx="1996456" cy="1185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1DD3E-011A-6F5A-185B-F2DDDF78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rganigramme : Connecteur 2">
            <a:extLst>
              <a:ext uri="{FF2B5EF4-FFF2-40B4-BE49-F238E27FC236}">
                <a16:creationId xmlns:a16="http://schemas.microsoft.com/office/drawing/2014/main" id="{D16AC1D6-526C-5986-9AE2-2D24F31A9CB3}"/>
              </a:ext>
            </a:extLst>
          </p:cNvPr>
          <p:cNvSpPr/>
          <p:nvPr/>
        </p:nvSpPr>
        <p:spPr>
          <a:xfrm>
            <a:off x="476531" y="1089649"/>
            <a:ext cx="5027567" cy="4620260"/>
          </a:xfrm>
          <a:prstGeom prst="flowChartConnector">
            <a:avLst/>
          </a:prstGeom>
          <a:solidFill>
            <a:srgbClr val="CBDAEC"/>
          </a:solidFill>
          <a:ln>
            <a:solidFill>
              <a:srgbClr val="CBDA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Organigramme : Connecteur 24">
            <a:extLst>
              <a:ext uri="{FF2B5EF4-FFF2-40B4-BE49-F238E27FC236}">
                <a16:creationId xmlns:a16="http://schemas.microsoft.com/office/drawing/2014/main" id="{2FAA8A48-C158-1E31-EAF9-E1FF431D8675}"/>
              </a:ext>
            </a:extLst>
          </p:cNvPr>
          <p:cNvSpPr/>
          <p:nvPr/>
        </p:nvSpPr>
        <p:spPr>
          <a:xfrm>
            <a:off x="393729" y="1248619"/>
            <a:ext cx="4287724" cy="4302319"/>
          </a:xfrm>
          <a:prstGeom prst="flowChartConnector">
            <a:avLst/>
          </a:prstGeom>
          <a:solidFill>
            <a:srgbClr val="FFFFFF"/>
          </a:solidFill>
          <a:ln>
            <a:solidFill>
              <a:srgbClr val="CBDAEC"/>
            </a:solidFill>
          </a:ln>
          <a:effectLst>
            <a:outerShdw blurRad="50800" dist="38100" dir="18900000" algn="bl" rotWithShape="0">
              <a:srgbClr val="CBDAEC">
                <a:alpha val="40000"/>
              </a:srgbClr>
            </a:outerShdw>
          </a:effectLst>
          <a:scene3d>
            <a:camera prst="orthographicFront"/>
            <a:lightRig rig="balanced" dir="t">
              <a:rot lat="0" lon="0" rev="0"/>
            </a:lightRig>
          </a:scene3d>
          <a:sp3d extrusionH="76200" contourW="12700">
            <a:bevelT w="165100"/>
            <a:extrusionClr>
              <a:srgbClr val="CBDAEC"/>
            </a:extrusionClr>
            <a:contourClr>
              <a:srgbClr val="CBDAEC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b="1" dirty="0">
                <a:solidFill>
                  <a:srgbClr val="004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0" dirty="0">
              <a:solidFill>
                <a:srgbClr val="004F88"/>
              </a:solidFill>
            </a:endParaRPr>
          </a:p>
          <a:p>
            <a:endParaRPr lang="en-US" sz="3600" dirty="0">
              <a:solidFill>
                <a:srgbClr val="004F88"/>
              </a:solidFill>
            </a:endParaRPr>
          </a:p>
        </p:txBody>
      </p:sp>
      <p:cxnSp>
        <p:nvCxnSpPr>
          <p:cNvPr id="34" name="Connecteur droit 33">
            <a:extLst>
              <a:ext uri="{FF2B5EF4-FFF2-40B4-BE49-F238E27FC236}">
                <a16:creationId xmlns:a16="http://schemas.microsoft.com/office/drawing/2014/main" id="{01A3860D-2DDA-F7A6-0E76-2DAC769B6F74}"/>
              </a:ext>
            </a:extLst>
          </p:cNvPr>
          <p:cNvCxnSpPr>
            <a:cxnSpLocks/>
          </p:cNvCxnSpPr>
          <p:nvPr/>
        </p:nvCxnSpPr>
        <p:spPr>
          <a:xfrm flipV="1">
            <a:off x="3795390" y="1012089"/>
            <a:ext cx="497046" cy="220413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F58C5ADD-ACD1-1DAA-0811-73BFE322A500}"/>
              </a:ext>
            </a:extLst>
          </p:cNvPr>
          <p:cNvCxnSpPr>
            <a:cxnSpLocks/>
          </p:cNvCxnSpPr>
          <p:nvPr/>
        </p:nvCxnSpPr>
        <p:spPr>
          <a:xfrm>
            <a:off x="4292436" y="1012089"/>
            <a:ext cx="926932" cy="0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2D213E4-62B1-86C8-F772-68CD8575DC85}"/>
              </a:ext>
            </a:extLst>
          </p:cNvPr>
          <p:cNvCxnSpPr>
            <a:cxnSpLocks/>
          </p:cNvCxnSpPr>
          <p:nvPr/>
        </p:nvCxnSpPr>
        <p:spPr>
          <a:xfrm>
            <a:off x="5754732" y="2207543"/>
            <a:ext cx="1049428" cy="0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3B39A6B4-A7DE-3AF9-CB19-4A32CEF3A44B}"/>
              </a:ext>
            </a:extLst>
          </p:cNvPr>
          <p:cNvCxnSpPr>
            <a:cxnSpLocks/>
          </p:cNvCxnSpPr>
          <p:nvPr/>
        </p:nvCxnSpPr>
        <p:spPr>
          <a:xfrm flipV="1">
            <a:off x="5264881" y="2207543"/>
            <a:ext cx="497046" cy="220413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A120EC0B-536C-F745-8692-3ED2FD72F3FC}"/>
              </a:ext>
            </a:extLst>
          </p:cNvPr>
          <p:cNvCxnSpPr>
            <a:cxnSpLocks/>
          </p:cNvCxnSpPr>
          <p:nvPr/>
        </p:nvCxnSpPr>
        <p:spPr>
          <a:xfrm>
            <a:off x="5913967" y="3621411"/>
            <a:ext cx="890193" cy="0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CCE9D306-186B-051D-BA07-019C84BB3C66}"/>
              </a:ext>
            </a:extLst>
          </p:cNvPr>
          <p:cNvCxnSpPr>
            <a:cxnSpLocks/>
          </p:cNvCxnSpPr>
          <p:nvPr/>
        </p:nvCxnSpPr>
        <p:spPr>
          <a:xfrm flipV="1">
            <a:off x="5428431" y="3621411"/>
            <a:ext cx="497046" cy="220413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E8BF4D30-1311-0BE5-22BD-DFBDB5E276DF}"/>
              </a:ext>
            </a:extLst>
          </p:cNvPr>
          <p:cNvCxnSpPr>
            <a:cxnSpLocks/>
          </p:cNvCxnSpPr>
          <p:nvPr/>
        </p:nvCxnSpPr>
        <p:spPr>
          <a:xfrm flipV="1">
            <a:off x="5144919" y="4898209"/>
            <a:ext cx="938608" cy="4094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7859D6C6-76C2-A368-B585-11A33FEE3950}"/>
              </a:ext>
            </a:extLst>
          </p:cNvPr>
          <p:cNvCxnSpPr>
            <a:cxnSpLocks/>
          </p:cNvCxnSpPr>
          <p:nvPr/>
        </p:nvCxnSpPr>
        <p:spPr>
          <a:xfrm flipV="1">
            <a:off x="4647873" y="4891859"/>
            <a:ext cx="497046" cy="220413"/>
          </a:xfrm>
          <a:prstGeom prst="line">
            <a:avLst/>
          </a:prstGeom>
          <a:ln w="57150">
            <a:solidFill>
              <a:srgbClr val="CBDA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AEDB33CC-C9AA-5B4F-A025-6C282FC9D5AD}"/>
              </a:ext>
            </a:extLst>
          </p:cNvPr>
          <p:cNvSpPr/>
          <p:nvPr/>
        </p:nvSpPr>
        <p:spPr>
          <a:xfrm>
            <a:off x="5219368" y="720770"/>
            <a:ext cx="5027567" cy="677993"/>
          </a:xfrm>
          <a:prstGeom prst="roundRect">
            <a:avLst>
              <a:gd name="adj" fmla="val 50000"/>
            </a:avLst>
          </a:prstGeom>
          <a:solidFill>
            <a:srgbClr val="CBDAEC"/>
          </a:solidFill>
          <a:ln cap="rnd">
            <a:solidFill>
              <a:srgbClr val="004F88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dirty="0"/>
          </a:p>
        </p:txBody>
      </p:sp>
      <p:sp>
        <p:nvSpPr>
          <p:cNvPr id="60" name="Organigramme : Connecteur 59">
            <a:extLst>
              <a:ext uri="{FF2B5EF4-FFF2-40B4-BE49-F238E27FC236}">
                <a16:creationId xmlns:a16="http://schemas.microsoft.com/office/drawing/2014/main" id="{03F455C1-F5E8-9DA2-BF11-D708749A6CB7}"/>
              </a:ext>
            </a:extLst>
          </p:cNvPr>
          <p:cNvSpPr/>
          <p:nvPr/>
        </p:nvSpPr>
        <p:spPr>
          <a:xfrm>
            <a:off x="5284480" y="760663"/>
            <a:ext cx="576944" cy="580413"/>
          </a:xfrm>
          <a:prstGeom prst="flowChartConnector">
            <a:avLst/>
          </a:prstGeom>
          <a:solidFill>
            <a:srgbClr val="004F88"/>
          </a:solidFill>
          <a:ln>
            <a:solidFill>
              <a:srgbClr val="004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dirty="0"/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92EDF261-7F46-E92D-B86D-904B36FBD797}"/>
              </a:ext>
            </a:extLst>
          </p:cNvPr>
          <p:cNvSpPr/>
          <p:nvPr/>
        </p:nvSpPr>
        <p:spPr>
          <a:xfrm>
            <a:off x="6602553" y="1893003"/>
            <a:ext cx="5027567" cy="677993"/>
          </a:xfrm>
          <a:prstGeom prst="roundRect">
            <a:avLst>
              <a:gd name="adj" fmla="val 50000"/>
            </a:avLst>
          </a:prstGeom>
          <a:solidFill>
            <a:srgbClr val="CBDAEC"/>
          </a:solidFill>
          <a:ln cap="rnd">
            <a:solidFill>
              <a:srgbClr val="004F88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</a:t>
            </a: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proposée</a:t>
            </a:r>
            <a:endParaRPr lang="en-US" dirty="0"/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2A45F135-E9D7-CF62-25AF-E26DFDEFDC8D}"/>
              </a:ext>
            </a:extLst>
          </p:cNvPr>
          <p:cNvSpPr/>
          <p:nvPr/>
        </p:nvSpPr>
        <p:spPr>
          <a:xfrm>
            <a:off x="6610497" y="3307683"/>
            <a:ext cx="5027567" cy="677993"/>
          </a:xfrm>
          <a:prstGeom prst="roundRect">
            <a:avLst>
              <a:gd name="adj" fmla="val 50000"/>
            </a:avLst>
          </a:prstGeom>
          <a:solidFill>
            <a:srgbClr val="CBDAEC"/>
          </a:solidFill>
          <a:ln cap="rnd">
            <a:solidFill>
              <a:srgbClr val="004F88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</a:t>
            </a:r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&amp; </a:t>
            </a:r>
            <a:r>
              <a:rPr lang="en-US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expérimentation</a:t>
            </a:r>
            <a:endParaRPr lang="en-US" dirty="0"/>
          </a:p>
        </p:txBody>
      </p:sp>
      <p:sp>
        <p:nvSpPr>
          <p:cNvPr id="63" name="Rectangle : coins arrondis 62">
            <a:extLst>
              <a:ext uri="{FF2B5EF4-FFF2-40B4-BE49-F238E27FC236}">
                <a16:creationId xmlns:a16="http://schemas.microsoft.com/office/drawing/2014/main" id="{84CD0434-05B9-4A8F-05E5-F6C60AB2E78B}"/>
              </a:ext>
            </a:extLst>
          </p:cNvPr>
          <p:cNvSpPr/>
          <p:nvPr/>
        </p:nvSpPr>
        <p:spPr>
          <a:xfrm>
            <a:off x="5861424" y="4637333"/>
            <a:ext cx="5027567" cy="677993"/>
          </a:xfrm>
          <a:prstGeom prst="roundRect">
            <a:avLst>
              <a:gd name="adj" fmla="val 50000"/>
            </a:avLst>
          </a:prstGeom>
          <a:solidFill>
            <a:srgbClr val="CBDAEC"/>
          </a:solidFill>
          <a:ln cap="rnd">
            <a:solidFill>
              <a:srgbClr val="004F88"/>
            </a:solidFill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dirty="0"/>
          </a:p>
        </p:txBody>
      </p:sp>
      <p:sp>
        <p:nvSpPr>
          <p:cNvPr id="896" name="Organigramme : Connecteur 895">
            <a:extLst>
              <a:ext uri="{FF2B5EF4-FFF2-40B4-BE49-F238E27FC236}">
                <a16:creationId xmlns:a16="http://schemas.microsoft.com/office/drawing/2014/main" id="{3C804DF6-5998-5EC6-50BA-24DC8CA2FBAB}"/>
              </a:ext>
            </a:extLst>
          </p:cNvPr>
          <p:cNvSpPr/>
          <p:nvPr/>
        </p:nvSpPr>
        <p:spPr>
          <a:xfrm>
            <a:off x="6672313" y="1936612"/>
            <a:ext cx="576944" cy="580413"/>
          </a:xfrm>
          <a:prstGeom prst="flowChartConnector">
            <a:avLst/>
          </a:prstGeom>
          <a:solidFill>
            <a:srgbClr val="004F88"/>
          </a:solidFill>
          <a:ln>
            <a:solidFill>
              <a:srgbClr val="004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dirty="0"/>
          </a:p>
        </p:txBody>
      </p:sp>
      <p:sp>
        <p:nvSpPr>
          <p:cNvPr id="897" name="Organigramme : Connecteur 896">
            <a:extLst>
              <a:ext uri="{FF2B5EF4-FFF2-40B4-BE49-F238E27FC236}">
                <a16:creationId xmlns:a16="http://schemas.microsoft.com/office/drawing/2014/main" id="{E83C0015-A895-CD18-79FF-669AAD775B92}"/>
              </a:ext>
            </a:extLst>
          </p:cNvPr>
          <p:cNvSpPr/>
          <p:nvPr/>
        </p:nvSpPr>
        <p:spPr>
          <a:xfrm>
            <a:off x="6687549" y="3357999"/>
            <a:ext cx="576944" cy="580413"/>
          </a:xfrm>
          <a:prstGeom prst="flowChartConnector">
            <a:avLst/>
          </a:prstGeom>
          <a:solidFill>
            <a:srgbClr val="004F88"/>
          </a:solidFill>
          <a:ln>
            <a:solidFill>
              <a:srgbClr val="004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600" dirty="0"/>
          </a:p>
        </p:txBody>
      </p:sp>
      <p:sp>
        <p:nvSpPr>
          <p:cNvPr id="898" name="Organigramme : Connecteur 897">
            <a:extLst>
              <a:ext uri="{FF2B5EF4-FFF2-40B4-BE49-F238E27FC236}">
                <a16:creationId xmlns:a16="http://schemas.microsoft.com/office/drawing/2014/main" id="{61F6F11D-70D8-7283-5C41-47DE062A622C}"/>
              </a:ext>
            </a:extLst>
          </p:cNvPr>
          <p:cNvSpPr/>
          <p:nvPr/>
        </p:nvSpPr>
        <p:spPr>
          <a:xfrm>
            <a:off x="5943206" y="4686122"/>
            <a:ext cx="576944" cy="580413"/>
          </a:xfrm>
          <a:prstGeom prst="flowChartConnector">
            <a:avLst/>
          </a:prstGeom>
          <a:solidFill>
            <a:srgbClr val="004F88"/>
          </a:solidFill>
          <a:ln>
            <a:solidFill>
              <a:srgbClr val="004F8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8890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5" grpId="0" animBg="1"/>
      <p:bldP spid="55" grpId="0" animBg="1"/>
      <p:bldP spid="60" grpId="0" animBg="1"/>
      <p:bldP spid="61" grpId="0" animBg="1"/>
      <p:bldP spid="62" grpId="0" animBg="1"/>
      <p:bldP spid="63" grpId="0" animBg="1"/>
      <p:bldP spid="896" grpId="0" animBg="1"/>
      <p:bldP spid="897" grpId="0" animBg="1"/>
      <p:bldP spid="89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BD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09" y="0"/>
            <a:ext cx="12188952" cy="6858000"/>
          </a:xfrm>
          <a:prstGeom prst="rect">
            <a:avLst/>
          </a:prstGeom>
          <a:solidFill>
            <a:srgbClr val="CBDAE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général et problématique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 INTRODUCTION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général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datasets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déséquilibré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équilibré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343400" y="2697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fraude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réalité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19202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dirty="0"/>
              <a:t>~35 %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38160" y="269748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fraudes via 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par carte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digitalisation des services bancaires multiplie les transactions et les expose à des fraudes de plus en plus sophistiquées, difficiles à détecter avec des règles fixes.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9377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Big Data et l'IA permettent d'apprendre des transactions passées et de détecter les comportements suspects en temps réel.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I. INTRODUCTION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déséquilibre extrême entre les classes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54864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normales -- 99,83 %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09728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97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 -- 0,17 % (492 transactions sur 284 807)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modèle qui prédit toujours « transaction normale » obtiendrait déjà 99,8 % d'Accuracy -- sans détecter la moindre fraude.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55080" y="1600200"/>
            <a:ext cx="5257800" cy="274320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CENTRALE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219456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algorithmes de Machine Learning et de Deep Learning sont-ils capables de détecter efficacement des fraudes aussi rares, et comment se comportent-ils face à ce déséquilibre 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AF0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retenue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5 algorithmes (Random Forest, SVM, RNN, LSTM, K-Means) sur deux configurations : un dataset réel déséquilibré et un dataset équilibré (LSTM testé uniquement sur le déséquilibré), afin d'identifier le meilleur compromis entre détection des fraudes et fausses alertes.</a:t>
            </a:r>
            <a:endParaRPr lang="en-US" sz="130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6662B2FD-B6FB-9BE5-07AA-AA08109538BA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/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BD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18" y="0"/>
            <a:ext cx="12188952" cy="6858000"/>
          </a:xfrm>
          <a:prstGeom prst="rect">
            <a:avLst/>
          </a:prstGeom>
          <a:solidFill>
            <a:srgbClr val="CBDAE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Proposée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l'art, architecture générale et méthodologie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de l'art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traditionnelles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09360" y="15544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modernes (ML / DL)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AF0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57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fixes (IF-THEN)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AF0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statistique simple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AF0F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29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manuelle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0574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5F3F1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0574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SVM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7432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5F3F1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7432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de neurones (RNN, LSTM)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429000"/>
            <a:ext cx="5303520" cy="548640"/>
          </a:xfrm>
          <a:prstGeom prst="roundRect">
            <a:avLst>
              <a:gd name="adj" fmla="val 10000"/>
            </a:avLst>
          </a:prstGeom>
          <a:solidFill>
            <a:srgbClr val="E5F3F1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3429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(clustering)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connexes (2025)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64240" cy="14630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clé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Hemanth Kumar et 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SVM, RNN, K-Means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 : 96,8 % d'Accuracy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Popova &amp; Gardi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RF, XGBoost, KNN, MLP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le plus robuste : F1 = 85,8 %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Zhou, Zheng &amp; Du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RNN-LSTM hybride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= 85,3 % sur données réelles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4">
            <a:extLst>
              <a:ext uri="{FF2B5EF4-FFF2-40B4-BE49-F238E27FC236}">
                <a16:creationId xmlns:a16="http://schemas.microsoft.com/office/drawing/2014/main" id="{E4E3F1EC-E216-1E04-DFCA-2613935D41CB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/>
              <a:t>5</a:t>
            </a:r>
            <a:endParaRPr lang="en-US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générale du système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128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données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26060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70632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9B44C"/>
          </a:solidFill>
          <a:ln/>
        </p:spPr>
      </p:sp>
      <p:sp>
        <p:nvSpPr>
          <p:cNvPr id="9" name="Text 7"/>
          <p:cNvSpPr/>
          <p:nvPr/>
        </p:nvSpPr>
        <p:spPr>
          <a:xfrm>
            <a:off x="2770632" y="22128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62072" y="2788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normalisation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592" y="26060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92624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2A9D8F"/>
          </a:solidFill>
          <a:ln/>
        </p:spPr>
      </p:sp>
      <p:sp>
        <p:nvSpPr>
          <p:cNvPr id="13" name="Text 11"/>
          <p:cNvSpPr/>
          <p:nvPr/>
        </p:nvSpPr>
        <p:spPr>
          <a:xfrm>
            <a:off x="4992624" y="22128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84064" y="2788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58584" y="26060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214616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4616" y="22128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06056" y="2788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transactions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80576" y="26060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436608" y="2103120"/>
            <a:ext cx="1965960" cy="1554480"/>
          </a:xfrm>
          <a:prstGeom prst="roundRect">
            <a:avLst>
              <a:gd name="adj" fmla="val 5294"/>
            </a:avLst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9436608" y="22128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528048" y="27889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9776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0F6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équilibré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5720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unique pour les 4 algorithmes : StandardScaler global puis split 80/20 -- aucun rééchantillonnage nécessaire.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97764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CEBEC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déséquilibré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92240" y="457200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différencié par algorithme : class_weight (RF), SMOTE + undersampling (SVM), tirage aléatoire équilibré (RNN/LSTM/K-Means).</a:t>
            </a:r>
            <a:endParaRPr lang="en-US" sz="12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0649FA75-C951-E06C-34CB-12F11A8AE7B4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harg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des données</a:t>
            </a:r>
            <a:endParaRPr lang="en-US" sz="1400" dirty="0"/>
          </a:p>
        </p:txBody>
      </p:sp>
      <p:sp>
        <p:nvSpPr>
          <p:cNvPr id="5" name="Text 5"/>
          <p:cNvSpPr/>
          <p:nvPr/>
        </p:nvSpPr>
        <p:spPr>
          <a:xfrm>
            <a:off x="548640" y="1480000"/>
            <a:ext cx="110947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commune à tous les algorithmes, quel que soit le dataset utilisé</a:t>
            </a:r>
            <a:endParaRPr lang="en-US" sz="1250" dirty="0"/>
          </a:p>
        </p:txBody>
      </p:sp>
      <p:sp>
        <p:nvSpPr>
          <p:cNvPr id="6" name="Shape 6"/>
          <p:cNvSpPr/>
          <p:nvPr/>
        </p:nvSpPr>
        <p:spPr>
          <a:xfrm>
            <a:off x="548640" y="2000000"/>
            <a:ext cx="11094720" cy="760000"/>
          </a:xfrm>
          <a:prstGeom prst="roundRect">
            <a:avLst>
              <a:gd name="adj" fmla="val 1500"/>
            </a:avLst>
          </a:prstGeom>
          <a:solidFill>
            <a:srgbClr val="F5F7FA"/>
          </a:solidFill>
          <a:ln/>
        </p:spPr>
      </p:sp>
      <p:sp>
        <p:nvSpPr>
          <p:cNvPr id="7" name="Shape 7"/>
          <p:cNvSpPr/>
          <p:nvPr/>
        </p:nvSpPr>
        <p:spPr>
          <a:xfrm>
            <a:off x="548640" y="2000000"/>
            <a:ext cx="750000" cy="760000"/>
          </a:xfrm>
          <a:prstGeom prst="roundRect">
            <a:avLst>
              <a:gd name="adj" fmla="val 1500"/>
            </a:avLst>
          </a:prstGeom>
          <a:solidFill>
            <a:srgbClr val="E63946"/>
          </a:solidFill>
          <a:ln/>
        </p:spPr>
      </p:sp>
      <p:sp>
        <p:nvSpPr>
          <p:cNvPr id="8" name="Text 8"/>
          <p:cNvSpPr/>
          <p:nvPr/>
        </p:nvSpPr>
        <p:spPr>
          <a:xfrm>
            <a:off x="548640" y="2000000"/>
            <a:ext cx="75000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9"/>
          <p:cNvSpPr/>
          <p:nvPr/>
        </p:nvSpPr>
        <p:spPr>
          <a:xfrm>
            <a:off x="1527240" y="2110000"/>
            <a:ext cx="98875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du fichier CSV</a:t>
            </a:r>
            <a:endParaRPr lang="en-US" sz="1350" dirty="0"/>
          </a:p>
        </p:txBody>
      </p:sp>
      <p:sp>
        <p:nvSpPr>
          <p:cNvPr id="10" name="Text 10"/>
          <p:cNvSpPr/>
          <p:nvPr/>
        </p:nvSpPr>
        <p:spPr>
          <a:xfrm>
            <a:off x="1527240" y="2430000"/>
            <a:ext cx="988752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creditcard.csv ou creditcard2023.csv, via pandas.read_csv</a:t>
            </a:r>
            <a:endParaRPr lang="en-US" sz="1150" dirty="0"/>
          </a:p>
        </p:txBody>
      </p:sp>
      <p:sp>
        <p:nvSpPr>
          <p:cNvPr id="11" name="Shape 11"/>
          <p:cNvSpPr/>
          <p:nvPr/>
        </p:nvSpPr>
        <p:spPr>
          <a:xfrm>
            <a:off x="548640" y="2890000"/>
            <a:ext cx="11094720" cy="760000"/>
          </a:xfrm>
          <a:prstGeom prst="roundRect">
            <a:avLst>
              <a:gd name="adj" fmla="val 1500"/>
            </a:avLst>
          </a:prstGeom>
          <a:solidFill>
            <a:srgbClr val="F5F7FA"/>
          </a:solidFill>
          <a:ln/>
        </p:spPr>
      </p:sp>
      <p:sp>
        <p:nvSpPr>
          <p:cNvPr id="12" name="Shape 12"/>
          <p:cNvSpPr/>
          <p:nvPr/>
        </p:nvSpPr>
        <p:spPr>
          <a:xfrm>
            <a:off x="548640" y="2890000"/>
            <a:ext cx="750000" cy="760000"/>
          </a:xfrm>
          <a:prstGeom prst="roundRect">
            <a:avLst>
              <a:gd name="adj" fmla="val 1500"/>
            </a:avLst>
          </a:prstGeom>
          <a:solidFill>
            <a:srgbClr val="E9B44C"/>
          </a:solidFill>
          <a:ln/>
        </p:spPr>
      </p:sp>
      <p:sp>
        <p:nvSpPr>
          <p:cNvPr id="13" name="Text 13"/>
          <p:cNvSpPr/>
          <p:nvPr/>
        </p:nvSpPr>
        <p:spPr>
          <a:xfrm>
            <a:off x="548640" y="2890000"/>
            <a:ext cx="75000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4"/>
          <p:cNvSpPr/>
          <p:nvPr/>
        </p:nvSpPr>
        <p:spPr>
          <a:xfrm>
            <a:off x="1527240" y="3000000"/>
            <a:ext cx="98875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du dataset</a:t>
            </a:r>
            <a:endParaRPr lang="en-US" sz="1350" dirty="0"/>
          </a:p>
        </p:txBody>
      </p:sp>
      <p:sp>
        <p:nvSpPr>
          <p:cNvPr id="15" name="Text 15"/>
          <p:cNvSpPr/>
          <p:nvPr/>
        </p:nvSpPr>
        <p:spPr>
          <a:xfrm>
            <a:off x="1527240" y="3320000"/>
            <a:ext cx="988752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 la forme (shape) et de la distribution de la variable cible Class</a:t>
            </a:r>
            <a:endParaRPr lang="en-US" sz="1150" dirty="0"/>
          </a:p>
        </p:txBody>
      </p:sp>
      <p:sp>
        <p:nvSpPr>
          <p:cNvPr id="16" name="Shape 16"/>
          <p:cNvSpPr/>
          <p:nvPr/>
        </p:nvSpPr>
        <p:spPr>
          <a:xfrm>
            <a:off x="548640" y="3780000"/>
            <a:ext cx="11094720" cy="760000"/>
          </a:xfrm>
          <a:prstGeom prst="roundRect">
            <a:avLst>
              <a:gd name="adj" fmla="val 1500"/>
            </a:avLst>
          </a:prstGeom>
          <a:solidFill>
            <a:srgbClr val="F5F7FA"/>
          </a:solidFill>
          <a:ln/>
        </p:spPr>
      </p:sp>
      <p:sp>
        <p:nvSpPr>
          <p:cNvPr id="17" name="Shape 17"/>
          <p:cNvSpPr/>
          <p:nvPr/>
        </p:nvSpPr>
        <p:spPr>
          <a:xfrm>
            <a:off x="548640" y="3780000"/>
            <a:ext cx="750000" cy="760000"/>
          </a:xfrm>
          <a:prstGeom prst="roundRect">
            <a:avLst>
              <a:gd name="adj" fmla="val 1500"/>
            </a:avLst>
          </a:prstGeom>
          <a:solidFill>
            <a:srgbClr val="2A9D8F"/>
          </a:solidFill>
          <a:ln/>
        </p:spPr>
      </p:sp>
      <p:sp>
        <p:nvSpPr>
          <p:cNvPr id="18" name="Text 18"/>
          <p:cNvSpPr/>
          <p:nvPr/>
        </p:nvSpPr>
        <p:spPr>
          <a:xfrm>
            <a:off x="548640" y="3780000"/>
            <a:ext cx="75000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9"/>
          <p:cNvSpPr/>
          <p:nvPr/>
        </p:nvSpPr>
        <p:spPr>
          <a:xfrm>
            <a:off x="1527240" y="3890000"/>
            <a:ext cx="98875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valeurs manquantes</a:t>
            </a:r>
            <a:endParaRPr lang="en-US" sz="1350" dirty="0"/>
          </a:p>
        </p:txBody>
      </p:sp>
      <p:sp>
        <p:nvSpPr>
          <p:cNvPr id="20" name="Text 20"/>
          <p:cNvSpPr/>
          <p:nvPr/>
        </p:nvSpPr>
        <p:spPr>
          <a:xfrm>
            <a:off x="1527240" y="4210000"/>
            <a:ext cx="988752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-- aucune valeur manquante détectée sur les deux datasets</a:t>
            </a:r>
            <a:endParaRPr lang="en-US" sz="1150" dirty="0"/>
          </a:p>
        </p:txBody>
      </p:sp>
      <p:sp>
        <p:nvSpPr>
          <p:cNvPr id="21" name="Shape 21"/>
          <p:cNvSpPr/>
          <p:nvPr/>
        </p:nvSpPr>
        <p:spPr>
          <a:xfrm>
            <a:off x="548640" y="4670000"/>
            <a:ext cx="11094720" cy="760000"/>
          </a:xfrm>
          <a:prstGeom prst="roundRect">
            <a:avLst>
              <a:gd name="adj" fmla="val 1500"/>
            </a:avLst>
          </a:prstGeom>
          <a:solidFill>
            <a:srgbClr val="F5F7FA"/>
          </a:solidFill>
          <a:ln/>
        </p:spPr>
      </p:sp>
      <p:sp>
        <p:nvSpPr>
          <p:cNvPr id="22" name="Shape 22"/>
          <p:cNvSpPr/>
          <p:nvPr/>
        </p:nvSpPr>
        <p:spPr>
          <a:xfrm>
            <a:off x="548640" y="4670000"/>
            <a:ext cx="750000" cy="760000"/>
          </a:xfrm>
          <a:prstGeom prst="roundRect">
            <a:avLst>
              <a:gd name="adj" fmla="val 1500"/>
            </a:avLst>
          </a:prstGeom>
          <a:solidFill>
            <a:srgbClr val="1B2A4A"/>
          </a:solidFill>
          <a:ln/>
        </p:spPr>
      </p:sp>
      <p:sp>
        <p:nvSpPr>
          <p:cNvPr id="23" name="Text 23"/>
          <p:cNvSpPr/>
          <p:nvPr/>
        </p:nvSpPr>
        <p:spPr>
          <a:xfrm>
            <a:off x="548640" y="4670000"/>
            <a:ext cx="75000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4"/>
          <p:cNvSpPr/>
          <p:nvPr/>
        </p:nvSpPr>
        <p:spPr>
          <a:xfrm>
            <a:off x="1527240" y="4780000"/>
            <a:ext cx="98875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la colonne id</a:t>
            </a:r>
            <a:endParaRPr lang="en-US" sz="1350" dirty="0"/>
          </a:p>
        </p:txBody>
      </p:sp>
      <p:sp>
        <p:nvSpPr>
          <p:cNvPr id="25" name="Text 25"/>
          <p:cNvSpPr/>
          <p:nvPr/>
        </p:nvSpPr>
        <p:spPr>
          <a:xfrm>
            <a:off x="1527240" y="5100000"/>
            <a:ext cx="988752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creditcard2023 uniquement ; creditcard.csv ne la possède pas</a:t>
            </a:r>
            <a:endParaRPr lang="en-US" sz="1150" dirty="0"/>
          </a:p>
        </p:txBody>
      </p:sp>
      <p:sp>
        <p:nvSpPr>
          <p:cNvPr id="26" name="Shape 26"/>
          <p:cNvSpPr/>
          <p:nvPr/>
        </p:nvSpPr>
        <p:spPr>
          <a:xfrm>
            <a:off x="548640" y="5560000"/>
            <a:ext cx="11094720" cy="760000"/>
          </a:xfrm>
          <a:prstGeom prst="roundRect">
            <a:avLst>
              <a:gd name="adj" fmla="val 1500"/>
            </a:avLst>
          </a:prstGeom>
          <a:solidFill>
            <a:srgbClr val="F5F7FA"/>
          </a:solidFill>
          <a:ln/>
        </p:spPr>
      </p:sp>
      <p:sp>
        <p:nvSpPr>
          <p:cNvPr id="27" name="Shape 27"/>
          <p:cNvSpPr/>
          <p:nvPr/>
        </p:nvSpPr>
        <p:spPr>
          <a:xfrm>
            <a:off x="548640" y="5560000"/>
            <a:ext cx="750000" cy="760000"/>
          </a:xfrm>
          <a:prstGeom prst="roundRect">
            <a:avLst>
              <a:gd name="adj" fmla="val 1500"/>
            </a:avLst>
          </a:prstGeom>
          <a:solidFill>
            <a:srgbClr val="E63946"/>
          </a:solidFill>
          <a:ln/>
        </p:spPr>
      </p:sp>
      <p:sp>
        <p:nvSpPr>
          <p:cNvPr id="28" name="Text 28"/>
          <p:cNvSpPr/>
          <p:nvPr/>
        </p:nvSpPr>
        <p:spPr>
          <a:xfrm>
            <a:off x="548640" y="5560000"/>
            <a:ext cx="750000" cy="7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9"/>
          <p:cNvSpPr/>
          <p:nvPr/>
        </p:nvSpPr>
        <p:spPr>
          <a:xfrm>
            <a:off x="1527240" y="5670000"/>
            <a:ext cx="988752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X / y</a:t>
            </a:r>
            <a:endParaRPr lang="en-US" sz="1350" dirty="0"/>
          </a:p>
        </p:txBody>
      </p:sp>
      <p:sp>
        <p:nvSpPr>
          <p:cNvPr id="30" name="Text 30"/>
          <p:cNvSpPr/>
          <p:nvPr/>
        </p:nvSpPr>
        <p:spPr>
          <a:xfrm>
            <a:off x="1527240" y="5990000"/>
            <a:ext cx="9887520" cy="2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explicatives X (toutes les colonnes sauf Class) et variable cible y (Class)</a:t>
            </a:r>
            <a:endParaRPr lang="en-US" sz="11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B4FBC64E-D7FF-4567-CD76-AC7704B8E130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Pretrait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1400" dirty="0"/>
          </a:p>
        </p:txBody>
      </p:sp>
      <p:sp>
        <p:nvSpPr>
          <p:cNvPr id="5" name="Shape 5"/>
          <p:cNvSpPr/>
          <p:nvPr/>
        </p:nvSpPr>
        <p:spPr>
          <a:xfrm>
            <a:off x="548640" y="1750000"/>
            <a:ext cx="11094720" cy="680000"/>
          </a:xfrm>
          <a:prstGeom prst="roundRect">
            <a:avLst>
              <a:gd name="adj" fmla="val 2000"/>
            </a:avLst>
          </a:prstGeom>
          <a:solidFill>
            <a:srgbClr val="D6DEE8"/>
          </a:solidFill>
          <a:ln/>
        </p:spPr>
      </p:sp>
      <p:sp>
        <p:nvSpPr>
          <p:cNvPr id="6" name="Text 6"/>
          <p:cNvSpPr/>
          <p:nvPr/>
        </p:nvSpPr>
        <p:spPr>
          <a:xfrm>
            <a:off x="548640" y="1750000"/>
            <a:ext cx="11094720" cy="6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CSV  →  vérification NaN / doublons  →  suppression id  →  séparation X / y</a:t>
            </a:r>
            <a:endParaRPr lang="en-US" sz="1350" dirty="0"/>
          </a:p>
        </p:txBody>
      </p:sp>
      <p:sp>
        <p:nvSpPr>
          <p:cNvPr id="7" name="Shape 7"/>
          <p:cNvSpPr/>
          <p:nvPr/>
        </p:nvSpPr>
        <p:spPr>
          <a:xfrm>
            <a:off x="548640" y="2900000"/>
            <a:ext cx="5394960" cy="2650000"/>
          </a:xfrm>
          <a:prstGeom prst="roundRect">
            <a:avLst>
              <a:gd name="adj" fmla="val 3333"/>
            </a:avLst>
          </a:prstGeom>
          <a:solidFill>
            <a:srgbClr val="E5F3F1"/>
          </a:solidFill>
          <a:ln/>
        </p:spPr>
      </p:sp>
      <p:sp>
        <p:nvSpPr>
          <p:cNvPr id="8" name="Text 8"/>
          <p:cNvSpPr/>
          <p:nvPr/>
        </p:nvSpPr>
        <p:spPr>
          <a:xfrm>
            <a:off x="777240" y="3082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équilibré</a:t>
            </a:r>
            <a:endParaRPr lang="en-US" sz="1600" dirty="0"/>
          </a:p>
        </p:txBody>
      </p:sp>
      <p:sp>
        <p:nvSpPr>
          <p:cNvPr id="9" name="Text 9"/>
          <p:cNvSpPr/>
          <p:nvPr/>
        </p:nvSpPr>
        <p:spPr>
          <a:xfrm>
            <a:off x="777240" y="3540080"/>
            <a:ext cx="4937760" cy="1918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unique StandardScaler est ajusté (fit_transform) sur l'ensemble des 29 variables explicatives (V1-V28 + Amount). Split train/test 80/20 stratifié sur Class -- le dataset étant naturellement équilibré, aucun rééchantillonnage n'est nécessaire.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6263640" y="2900000"/>
            <a:ext cx="5349240" cy="2650000"/>
          </a:xfrm>
          <a:prstGeom prst="roundRect">
            <a:avLst>
              <a:gd name="adj" fmla="val 3333"/>
            </a:avLst>
          </a:prstGeom>
          <a:solidFill>
            <a:srgbClr val="FCEBEC"/>
          </a:solidFill>
          <a:ln/>
        </p:spPr>
      </p:sp>
      <p:sp>
        <p:nvSpPr>
          <p:cNvPr id="11" name="Text 11"/>
          <p:cNvSpPr/>
          <p:nvPr/>
        </p:nvSpPr>
        <p:spPr>
          <a:xfrm>
            <a:off x="6492240" y="30828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déséquilibré</a:t>
            </a:r>
            <a:endParaRPr lang="en-US" sz="1600" dirty="0"/>
          </a:p>
        </p:txBody>
      </p:sp>
      <p:sp>
        <p:nvSpPr>
          <p:cNvPr id="12" name="Text 12"/>
          <p:cNvSpPr/>
          <p:nvPr/>
        </p:nvSpPr>
        <p:spPr>
          <a:xfrm>
            <a:off x="6492240" y="3540080"/>
            <a:ext cx="4892040" cy="1918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unique StandardScaler est ajusté sur les 30 variables pour Random Forest. Pour SVM, RNN, LSTM et K-Means, Amount et Time sont normalisées séparément, avec deux StandardScaler distincts.</a:t>
            </a:r>
            <a:endParaRPr lang="en-US" sz="1300" dirty="0"/>
          </a:p>
        </p:txBody>
      </p:sp>
      <p:sp>
        <p:nvSpPr>
          <p:cNvPr id="13" name="Text 13"/>
          <p:cNvSpPr/>
          <p:nvPr/>
        </p:nvSpPr>
        <p:spPr>
          <a:xfrm>
            <a:off x="548640" y="5950000"/>
            <a:ext cx="1109472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valeur manquante détectée sur les deux datasets  ·  colonne id supprimée pour creditcard2023</a:t>
            </a:r>
            <a:endParaRPr lang="en-US" sz="120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03862723-5928-660F-7E4F-7850D9291A12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/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Extra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des caractéristiques</a:t>
            </a:r>
            <a:endParaRPr lang="en-US" sz="1400" dirty="0"/>
          </a:p>
        </p:txBody>
      </p:sp>
      <p:sp>
        <p:nvSpPr>
          <p:cNvPr id="5" name="Shape 5"/>
          <p:cNvSpPr/>
          <p:nvPr/>
        </p:nvSpPr>
        <p:spPr>
          <a:xfrm>
            <a:off x="548640" y="1750000"/>
            <a:ext cx="11094720" cy="780000"/>
          </a:xfrm>
          <a:prstGeom prst="roundRect">
            <a:avLst>
              <a:gd name="adj" fmla="val 2000"/>
            </a:avLst>
          </a:prstGeom>
          <a:solidFill>
            <a:srgbClr val="D6DEE8"/>
          </a:solidFill>
          <a:ln/>
        </p:spPr>
      </p:sp>
      <p:sp>
        <p:nvSpPr>
          <p:cNvPr id="6" name="Text 6"/>
          <p:cNvSpPr/>
          <p:nvPr/>
        </p:nvSpPr>
        <p:spPr>
          <a:xfrm>
            <a:off x="548640" y="1750000"/>
            <a:ext cx="11094720" cy="7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des variables d'entrée : 29 variables (V1-V28 + Amount) sur le dataset équilibré ; 30 variables (+ Time) sur le dataset déséquilibré</a:t>
            </a:r>
            <a:endParaRPr lang="en-US" sz="1300" dirty="0"/>
          </a:p>
        </p:txBody>
      </p:sp>
      <p:sp>
        <p:nvSpPr>
          <p:cNvPr id="7" name="Text 7"/>
          <p:cNvSpPr/>
          <p:nvPr/>
        </p:nvSpPr>
        <p:spPr>
          <a:xfrm>
            <a:off x="548640" y="2780000"/>
            <a:ext cx="110947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déséquilibre de classes (dataset déséquilibré uniquement)</a:t>
            </a:r>
            <a:endParaRPr lang="en-US" sz="1350" dirty="0"/>
          </a:p>
        </p:txBody>
      </p:sp>
      <p:sp>
        <p:nvSpPr>
          <p:cNvPr id="8" name="Shape 8"/>
          <p:cNvSpPr/>
          <p:nvPr/>
        </p:nvSpPr>
        <p:spPr>
          <a:xfrm>
            <a:off x="548640" y="3250000"/>
            <a:ext cx="3576320" cy="2150000"/>
          </a:xfrm>
          <a:prstGeom prst="roundRect">
            <a:avLst>
              <a:gd name="adj" fmla="val 3333"/>
            </a:avLst>
          </a:prstGeom>
          <a:solidFill>
            <a:srgbClr val="FEF6E4"/>
          </a:solidFill>
          <a:ln/>
        </p:spPr>
      </p:sp>
      <p:sp>
        <p:nvSpPr>
          <p:cNvPr id="9" name="Text 9"/>
          <p:cNvSpPr/>
          <p:nvPr/>
        </p:nvSpPr>
        <p:spPr>
          <a:xfrm>
            <a:off x="777240" y="3432880"/>
            <a:ext cx="311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0" name="Text 10"/>
          <p:cNvSpPr/>
          <p:nvPr/>
        </p:nvSpPr>
        <p:spPr>
          <a:xfrm>
            <a:off x="777240" y="3752920"/>
            <a:ext cx="311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</a:t>
            </a:r>
            <a:endParaRPr lang="en-US" sz="1600" dirty="0"/>
          </a:p>
        </p:txBody>
      </p:sp>
      <p:sp>
        <p:nvSpPr>
          <p:cNvPr id="11" name="Text 11"/>
          <p:cNvSpPr/>
          <p:nvPr/>
        </p:nvSpPr>
        <p:spPr>
          <a:xfrm>
            <a:off x="777240" y="4210120"/>
            <a:ext cx="3119120" cy="1098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d'exemples synthétiques de fraude (sampling_strategy = 0,1). Appliqué au SVM uniquement.</a:t>
            </a:r>
            <a:endParaRPr lang="en-US" sz="1200" dirty="0"/>
          </a:p>
        </p:txBody>
      </p:sp>
      <p:sp>
        <p:nvSpPr>
          <p:cNvPr id="12" name="Shape 12"/>
          <p:cNvSpPr/>
          <p:nvPr/>
        </p:nvSpPr>
        <p:spPr>
          <a:xfrm>
            <a:off x="4307840" y="3250000"/>
            <a:ext cx="3576320" cy="2150000"/>
          </a:xfrm>
          <a:prstGeom prst="roundRect">
            <a:avLst>
              <a:gd name="adj" fmla="val 3333"/>
            </a:avLst>
          </a:prstGeom>
          <a:solidFill>
            <a:srgbClr val="E5F3F1"/>
          </a:solidFill>
          <a:ln/>
        </p:spPr>
      </p:sp>
      <p:sp>
        <p:nvSpPr>
          <p:cNvPr id="13" name="Text 13"/>
          <p:cNvSpPr/>
          <p:nvPr/>
        </p:nvSpPr>
        <p:spPr>
          <a:xfrm>
            <a:off x="4536440" y="3432880"/>
            <a:ext cx="311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4"/>
          <p:cNvSpPr/>
          <p:nvPr/>
        </p:nvSpPr>
        <p:spPr>
          <a:xfrm>
            <a:off x="4536440" y="3752920"/>
            <a:ext cx="311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Pondération class_weight</a:t>
            </a:r>
            <a:endParaRPr lang="en-US" sz="1350" dirty="0"/>
          </a:p>
        </p:txBody>
      </p:sp>
      <p:sp>
        <p:nvSpPr>
          <p:cNvPr id="15" name="Text 15"/>
          <p:cNvSpPr/>
          <p:nvPr/>
        </p:nvSpPr>
        <p:spPr>
          <a:xfrm>
            <a:off x="4536440" y="4210120"/>
            <a:ext cx="3119120" cy="1098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paramètre class_weight='balanced' compense le déséquilibre sans rééchantillonnage. Appliqué au Random Forest.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8067040" y="3250000"/>
            <a:ext cx="3576320" cy="2150000"/>
          </a:xfrm>
          <a:prstGeom prst="roundRect">
            <a:avLst>
              <a:gd name="adj" fmla="val 3333"/>
            </a:avLst>
          </a:prstGeom>
          <a:solidFill>
            <a:srgbClr val="EAF0F6"/>
          </a:solidFill>
          <a:ln/>
        </p:spPr>
      </p:sp>
      <p:sp>
        <p:nvSpPr>
          <p:cNvPr id="17" name="Text 17"/>
          <p:cNvSpPr/>
          <p:nvPr/>
        </p:nvSpPr>
        <p:spPr>
          <a:xfrm>
            <a:off x="8295640" y="3432880"/>
            <a:ext cx="311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Text 18"/>
          <p:cNvSpPr/>
          <p:nvPr/>
        </p:nvSpPr>
        <p:spPr>
          <a:xfrm>
            <a:off x="8295640" y="3752920"/>
            <a:ext cx="3119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Sous-échantillonnage</a:t>
            </a:r>
            <a:endParaRPr lang="en-US" sz="1350" dirty="0"/>
          </a:p>
        </p:txBody>
      </p:sp>
      <p:sp>
        <p:nvSpPr>
          <p:cNvPr id="19" name="Text 19"/>
          <p:cNvSpPr/>
          <p:nvPr/>
        </p:nvSpPr>
        <p:spPr>
          <a:xfrm>
            <a:off x="8295640" y="4210120"/>
            <a:ext cx="3119120" cy="1098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Tirage aléatoire équilibré : fraudes conservées intégralement, complétées par un échantillon de transactions normales. RNN, LSTM, K-Means.</a:t>
            </a:r>
            <a:endParaRPr lang="en-US" sz="1200" dirty="0"/>
          </a:p>
        </p:txBody>
      </p:sp>
      <p:sp>
        <p:nvSpPr>
          <p:cNvPr id="20" name="Text 20"/>
          <p:cNvSpPr/>
          <p:nvPr/>
        </p:nvSpPr>
        <p:spPr>
          <a:xfrm>
            <a:off x="548640" y="5650000"/>
            <a:ext cx="1109472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dimension par PCA (K-Means+PCA uniquement)  ·  mise en forme séquentielle pour RNN et LSTM</a:t>
            </a:r>
            <a:endParaRPr lang="en-US" sz="1200" dirty="0"/>
          </a:p>
        </p:txBody>
      </p:sp>
      <p:sp>
        <p:nvSpPr>
          <p:cNvPr id="3" name="Text 14">
            <a:extLst>
              <a:ext uri="{FF2B5EF4-FFF2-40B4-BE49-F238E27FC236}">
                <a16:creationId xmlns:a16="http://schemas.microsoft.com/office/drawing/2014/main" id="{E40CA14F-D170-B444-1314-6E6AE50A24F9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/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lassific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57349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5" name="Text 5"/>
          <p:cNvSpPr/>
          <p:nvPr/>
        </p:nvSpPr>
        <p:spPr>
          <a:xfrm>
            <a:off x="548640" y="1750000"/>
            <a:ext cx="110947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du </a:t>
            </a:r>
            <a:r>
              <a:rPr lang="en-US" sz="135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</p:txBody>
      </p:sp>
      <p:sp>
        <p:nvSpPr>
          <p:cNvPr id="6" name="Shape 6"/>
          <p:cNvSpPr/>
          <p:nvPr/>
        </p:nvSpPr>
        <p:spPr>
          <a:xfrm>
            <a:off x="548640" y="2250000"/>
            <a:ext cx="2636520" cy="1650000"/>
          </a:xfrm>
          <a:prstGeom prst="roundRect">
            <a:avLst>
              <a:gd name="adj" fmla="val 5000"/>
            </a:avLst>
          </a:prstGeom>
          <a:solidFill>
            <a:srgbClr val="E63946"/>
          </a:solidFill>
          <a:ln/>
        </p:spPr>
      </p:sp>
      <p:sp>
        <p:nvSpPr>
          <p:cNvPr id="7" name="Text 7"/>
          <p:cNvSpPr/>
          <p:nvPr/>
        </p:nvSpPr>
        <p:spPr>
          <a:xfrm>
            <a:off x="548640" y="2470000"/>
            <a:ext cx="263652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8" name="Text 8"/>
          <p:cNvSpPr/>
          <p:nvPr/>
        </p:nvSpPr>
        <p:spPr>
          <a:xfrm>
            <a:off x="640080" y="3000000"/>
            <a:ext cx="245364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9" name="Shape 9"/>
          <p:cNvSpPr/>
          <p:nvPr/>
        </p:nvSpPr>
        <p:spPr>
          <a:xfrm>
            <a:off x="3368040" y="2250000"/>
            <a:ext cx="2636520" cy="1650000"/>
          </a:xfrm>
          <a:prstGeom prst="roundRect">
            <a:avLst>
              <a:gd name="adj" fmla="val 5000"/>
            </a:avLst>
          </a:prstGeom>
          <a:solidFill>
            <a:srgbClr val="E9B44C"/>
          </a:solidFill>
          <a:ln/>
        </p:spPr>
      </p:sp>
      <p:sp>
        <p:nvSpPr>
          <p:cNvPr id="10" name="Text 10"/>
          <p:cNvSpPr/>
          <p:nvPr/>
        </p:nvSpPr>
        <p:spPr>
          <a:xfrm>
            <a:off x="3368040" y="2470000"/>
            <a:ext cx="263652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1" name="Text 11"/>
          <p:cNvSpPr/>
          <p:nvPr/>
        </p:nvSpPr>
        <p:spPr>
          <a:xfrm>
            <a:off x="3459480" y="3000000"/>
            <a:ext cx="245364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</p:txBody>
      </p:sp>
      <p:sp>
        <p:nvSpPr>
          <p:cNvPr id="12" name="Shape 12"/>
          <p:cNvSpPr/>
          <p:nvPr/>
        </p:nvSpPr>
        <p:spPr>
          <a:xfrm>
            <a:off x="6187440" y="2250000"/>
            <a:ext cx="2636520" cy="1650000"/>
          </a:xfrm>
          <a:prstGeom prst="roundRect">
            <a:avLst>
              <a:gd name="adj" fmla="val 5000"/>
            </a:avLst>
          </a:prstGeom>
          <a:solidFill>
            <a:srgbClr val="2A9D8F"/>
          </a:solidFill>
          <a:ln/>
        </p:spPr>
      </p:sp>
      <p:sp>
        <p:nvSpPr>
          <p:cNvPr id="13" name="Text 13"/>
          <p:cNvSpPr/>
          <p:nvPr/>
        </p:nvSpPr>
        <p:spPr>
          <a:xfrm>
            <a:off x="6187440" y="2470000"/>
            <a:ext cx="263652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4" name="Text 14"/>
          <p:cNvSpPr/>
          <p:nvPr/>
        </p:nvSpPr>
        <p:spPr>
          <a:xfrm>
            <a:off x="6278880" y="3000000"/>
            <a:ext cx="245364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(+ LSTM)</a:t>
            </a:r>
            <a:endParaRPr lang="en-US" sz="1500" dirty="0"/>
          </a:p>
        </p:txBody>
      </p:sp>
      <p:sp>
        <p:nvSpPr>
          <p:cNvPr id="15" name="Shape 15"/>
          <p:cNvSpPr/>
          <p:nvPr/>
        </p:nvSpPr>
        <p:spPr>
          <a:xfrm>
            <a:off x="9006840" y="2250000"/>
            <a:ext cx="2636520" cy="1650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/>
        </p:spPr>
      </p:sp>
      <p:sp>
        <p:nvSpPr>
          <p:cNvPr id="16" name="Text 16"/>
          <p:cNvSpPr/>
          <p:nvPr/>
        </p:nvSpPr>
        <p:spPr>
          <a:xfrm>
            <a:off x="9006840" y="2470000"/>
            <a:ext cx="263652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7" name="Text 17"/>
          <p:cNvSpPr/>
          <p:nvPr/>
        </p:nvSpPr>
        <p:spPr>
          <a:xfrm>
            <a:off x="9098280" y="3000000"/>
            <a:ext cx="245364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500" dirty="0"/>
          </a:p>
        </p:txBody>
      </p:sp>
      <p:sp>
        <p:nvSpPr>
          <p:cNvPr id="18" name="Shape 18"/>
          <p:cNvSpPr/>
          <p:nvPr/>
        </p:nvSpPr>
        <p:spPr>
          <a:xfrm>
            <a:off x="548640" y="4250000"/>
            <a:ext cx="5394960" cy="2050000"/>
          </a:xfrm>
          <a:prstGeom prst="roundRect">
            <a:avLst>
              <a:gd name="adj" fmla="val 3333"/>
            </a:avLst>
          </a:prstGeom>
          <a:solidFill>
            <a:srgbClr val="EAF0F6"/>
          </a:solidFill>
          <a:ln/>
        </p:spPr>
      </p:sp>
      <p:sp>
        <p:nvSpPr>
          <p:cNvPr id="19" name="Text 19"/>
          <p:cNvSpPr/>
          <p:nvPr/>
        </p:nvSpPr>
        <p:spPr>
          <a:xfrm>
            <a:off x="777240" y="44328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 train / validation / test</a:t>
            </a:r>
            <a:endParaRPr lang="en-US" sz="1500" dirty="0"/>
          </a:p>
        </p:txBody>
      </p:sp>
      <p:sp>
        <p:nvSpPr>
          <p:cNvPr id="20" name="Text 20"/>
          <p:cNvSpPr/>
          <p:nvPr/>
        </p:nvSpPr>
        <p:spPr>
          <a:xfrm>
            <a:off x="777240" y="4890080"/>
            <a:ext cx="4937760" cy="1318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propre à chaque </a:t>
            </a:r>
            <a:r>
              <a:rPr lang="en-US" sz="1300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</a:t>
            </a: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80/20 pour Random Forest, SVM, RNN et LSTM ; 60/20/20 pour K-Means.</a:t>
            </a:r>
            <a:endParaRPr lang="en-US" sz="1300" dirty="0"/>
          </a:p>
        </p:txBody>
      </p:sp>
      <p:sp>
        <p:nvSpPr>
          <p:cNvPr id="21" name="Shape 21"/>
          <p:cNvSpPr/>
          <p:nvPr/>
        </p:nvSpPr>
        <p:spPr>
          <a:xfrm>
            <a:off x="6263640" y="4250000"/>
            <a:ext cx="5349240" cy="2050000"/>
          </a:xfrm>
          <a:prstGeom prst="roundRect">
            <a:avLst>
              <a:gd name="adj" fmla="val 3333"/>
            </a:avLst>
          </a:prstGeom>
          <a:solidFill>
            <a:srgbClr val="FCEBEC"/>
          </a:solidFill>
          <a:ln/>
        </p:spPr>
      </p:sp>
      <p:sp>
        <p:nvSpPr>
          <p:cNvPr id="22" name="Text 22"/>
          <p:cNvSpPr/>
          <p:nvPr/>
        </p:nvSpPr>
        <p:spPr>
          <a:xfrm>
            <a:off x="6492240" y="443288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Règle de décision</a:t>
            </a:r>
            <a:endParaRPr lang="en-US" sz="1500" dirty="0"/>
          </a:p>
        </p:txBody>
      </p:sp>
      <p:sp>
        <p:nvSpPr>
          <p:cNvPr id="23" name="Text 23"/>
          <p:cNvSpPr/>
          <p:nvPr/>
        </p:nvSpPr>
        <p:spPr>
          <a:xfrm>
            <a:off x="6492240" y="4890080"/>
            <a:ext cx="4892040" cy="1318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seuils de probabilité testés (0,1 à 0,7) pour Random Forest, SVM et RNN, afin de maximiser le F1-Score. Pour K-Means : cluster ou score de distance.</a:t>
            </a:r>
            <a:endParaRPr lang="en-US" sz="130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C3B65A26-D3D5-B470-2DDE-B60F4B56BABD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Evalua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&amp; décision</a:t>
            </a:r>
            <a:endParaRPr lang="en-US" sz="1400" dirty="0"/>
          </a:p>
        </p:txBody>
      </p:sp>
      <p:sp>
        <p:nvSpPr>
          <p:cNvPr id="5" name="Text 5"/>
          <p:cNvSpPr/>
          <p:nvPr/>
        </p:nvSpPr>
        <p:spPr>
          <a:xfrm>
            <a:off x="548640" y="1550000"/>
            <a:ext cx="1109472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métriques calculées sur chaque ensemble (train / validation / test)</a:t>
            </a:r>
            <a:endParaRPr lang="en-US" sz="1300" dirty="0"/>
          </a:p>
        </p:txBody>
      </p:sp>
      <p:sp>
        <p:nvSpPr>
          <p:cNvPr id="6" name="Shape 6"/>
          <p:cNvSpPr/>
          <p:nvPr/>
        </p:nvSpPr>
        <p:spPr>
          <a:xfrm>
            <a:off x="548640" y="2050000"/>
            <a:ext cx="2109216" cy="1950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7" name="Text 7"/>
          <p:cNvSpPr/>
          <p:nvPr/>
        </p:nvSpPr>
        <p:spPr>
          <a:xfrm>
            <a:off x="662940" y="2210000"/>
            <a:ext cx="1880616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8"/>
          <p:cNvSpPr/>
          <p:nvPr/>
        </p:nvSpPr>
        <p:spPr>
          <a:xfrm>
            <a:off x="662940" y="2570000"/>
            <a:ext cx="1880616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de prédictions correctes sur l'ensemble des transactions</a:t>
            </a:r>
            <a:endParaRPr lang="en-US" sz="1000" dirty="0"/>
          </a:p>
        </p:txBody>
      </p:sp>
      <p:sp>
        <p:nvSpPr>
          <p:cNvPr id="9" name="Shape 9"/>
          <p:cNvSpPr/>
          <p:nvPr/>
        </p:nvSpPr>
        <p:spPr>
          <a:xfrm>
            <a:off x="2795016" y="2050000"/>
            <a:ext cx="2109216" cy="1950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10" name="Text 10"/>
          <p:cNvSpPr/>
          <p:nvPr/>
        </p:nvSpPr>
        <p:spPr>
          <a:xfrm>
            <a:off x="2909316" y="2210000"/>
            <a:ext cx="1880616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B4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300" dirty="0"/>
          </a:p>
        </p:txBody>
      </p:sp>
      <p:sp>
        <p:nvSpPr>
          <p:cNvPr id="11" name="Text 11"/>
          <p:cNvSpPr/>
          <p:nvPr/>
        </p:nvSpPr>
        <p:spPr>
          <a:xfrm>
            <a:off x="2909316" y="2570000"/>
            <a:ext cx="1880616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de fraudes prédites qui sont réellement des fraudes</a:t>
            </a:r>
            <a:endParaRPr lang="en-US" sz="1000" dirty="0"/>
          </a:p>
        </p:txBody>
      </p:sp>
      <p:sp>
        <p:nvSpPr>
          <p:cNvPr id="12" name="Shape 12"/>
          <p:cNvSpPr/>
          <p:nvPr/>
        </p:nvSpPr>
        <p:spPr>
          <a:xfrm>
            <a:off x="5041392" y="2050000"/>
            <a:ext cx="2109216" cy="1950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13" name="Text 13"/>
          <p:cNvSpPr/>
          <p:nvPr/>
        </p:nvSpPr>
        <p:spPr>
          <a:xfrm>
            <a:off x="5155692" y="2210000"/>
            <a:ext cx="1880616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Text 14"/>
          <p:cNvSpPr/>
          <p:nvPr/>
        </p:nvSpPr>
        <p:spPr>
          <a:xfrm>
            <a:off x="5155692" y="2570000"/>
            <a:ext cx="1880616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de fraudes réelles correctement détectées</a:t>
            </a:r>
            <a:endParaRPr lang="en-US" sz="1000" dirty="0"/>
          </a:p>
        </p:txBody>
      </p:sp>
      <p:sp>
        <p:nvSpPr>
          <p:cNvPr id="15" name="Shape 15"/>
          <p:cNvSpPr/>
          <p:nvPr/>
        </p:nvSpPr>
        <p:spPr>
          <a:xfrm>
            <a:off x="7287768" y="2050000"/>
            <a:ext cx="2109216" cy="1950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16" name="Text 16"/>
          <p:cNvSpPr/>
          <p:nvPr/>
        </p:nvSpPr>
        <p:spPr>
          <a:xfrm>
            <a:off x="7402068" y="2210000"/>
            <a:ext cx="1880616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7" name="Text 17"/>
          <p:cNvSpPr/>
          <p:nvPr/>
        </p:nvSpPr>
        <p:spPr>
          <a:xfrm>
            <a:off x="7402068" y="2570000"/>
            <a:ext cx="1880616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harmonique entre précision et recall</a:t>
            </a:r>
            <a:endParaRPr lang="en-US" sz="1000" dirty="0"/>
          </a:p>
        </p:txBody>
      </p:sp>
      <p:sp>
        <p:nvSpPr>
          <p:cNvPr id="18" name="Shape 18"/>
          <p:cNvSpPr/>
          <p:nvPr/>
        </p:nvSpPr>
        <p:spPr>
          <a:xfrm>
            <a:off x="9534144" y="2050000"/>
            <a:ext cx="2109216" cy="195000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19" name="Text 19"/>
          <p:cNvSpPr/>
          <p:nvPr/>
        </p:nvSpPr>
        <p:spPr>
          <a:xfrm>
            <a:off x="9648444" y="2210000"/>
            <a:ext cx="1880616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</a:t>
            </a:r>
            <a:endParaRPr lang="en-US" sz="1300" dirty="0"/>
          </a:p>
        </p:txBody>
      </p:sp>
      <p:sp>
        <p:nvSpPr>
          <p:cNvPr id="20" name="Text 20"/>
          <p:cNvSpPr/>
          <p:nvPr/>
        </p:nvSpPr>
        <p:spPr>
          <a:xfrm>
            <a:off x="9648444" y="2570000"/>
            <a:ext cx="1880616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transactions normales classées à tort comme frauduleuses</a:t>
            </a:r>
            <a:endParaRPr lang="en-US" sz="1000" dirty="0"/>
          </a:p>
        </p:txBody>
      </p:sp>
      <p:sp>
        <p:nvSpPr>
          <p:cNvPr id="21" name="Text 21"/>
          <p:cNvSpPr/>
          <p:nvPr/>
        </p:nvSpPr>
        <p:spPr>
          <a:xfrm>
            <a:off x="539931" y="4300000"/>
            <a:ext cx="11094720" cy="3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Silhouette Score pour K-Means, afin d'évaluer la qualité de la séparation des clusters</a:t>
            </a:r>
            <a:endParaRPr lang="en-US" sz="1150" dirty="0"/>
          </a:p>
        </p:txBody>
      </p:sp>
      <p:sp>
        <p:nvSpPr>
          <p:cNvPr id="22" name="Shape 22"/>
          <p:cNvSpPr/>
          <p:nvPr/>
        </p:nvSpPr>
        <p:spPr>
          <a:xfrm>
            <a:off x="1748640" y="4900000"/>
            <a:ext cx="8694720" cy="900000"/>
          </a:xfrm>
          <a:prstGeom prst="roundRect">
            <a:avLst>
              <a:gd name="adj" fmla="val 2500"/>
            </a:avLst>
          </a:prstGeom>
          <a:solidFill>
            <a:srgbClr val="2A9D8F"/>
          </a:solidFill>
          <a:ln/>
        </p:spPr>
      </p:sp>
      <p:sp>
        <p:nvSpPr>
          <p:cNvPr id="23" name="Text 23"/>
          <p:cNvSpPr/>
          <p:nvPr/>
        </p:nvSpPr>
        <p:spPr>
          <a:xfrm>
            <a:off x="1748640" y="4900000"/>
            <a:ext cx="869472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Décision finale : Transaction Normale / Frauduleuse</a:t>
            </a:r>
            <a:endParaRPr lang="en-US" sz="160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CC333EE8-3A3D-2F4E-A02B-598E621AAECE}"/>
              </a:ext>
            </a:extLst>
          </p:cNvPr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II. APPROCHE PROPOSÉE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-- Algorithmes étudiés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93192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Principe clé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 -- équilibré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Config. -- déséquilibré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Vote majoritaire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100 arbres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n_estimators=100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class_weight=balanced (identique)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séparateur optimal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Linéaire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(LinearSVC)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RBF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SMOTE + class_weight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Mémoire séquentielle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(BPTT)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SimpleRNN(128, 64)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batch=512, 50 époques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SimpleRNN(64, 32)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batch=32, 100 époques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(déséqui. seul.)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Portes de régulation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 gradient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 (non testé)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LSTM(128, 64, 32)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batch=16, 150 époques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supervisé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K =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k-means++, n_init=10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80/20 + val 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k-means++, tirage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aléatoire équilibré (492+492)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562356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configurations comparées : Random Forest, SVM, RNN, LSTM (déséquilibré uniquement) et K-Means -- avec optimisation du seuil de décision pour chaque modèle.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EC0384FB-F7B9-8EEC-7F50-41A96CF71246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BD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709" y="0"/>
            <a:ext cx="12188952" cy="6858000"/>
          </a:xfrm>
          <a:prstGeom prst="rect">
            <a:avLst/>
          </a:prstGeom>
          <a:solidFill>
            <a:srgbClr val="CBDAE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&amp; Expérimentation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Données, métriques, résultats et étude comparative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RÉSULTATS &amp; EXPÉRIMENTATION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0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5349240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déséquilibré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creditcard.csv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284 807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492 (0,17 %)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4251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V1-V28, Amount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5029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heures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0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172200" y="1600200"/>
            <a:ext cx="5349240" cy="8229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691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équilibré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46520" y="20574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creditcard2023.csv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4652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41080" y="26974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568 630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46520" y="34747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41080" y="3474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284 315 (50 %)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2519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41080" y="42519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V1-V28, Amount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46520" y="5029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41080" y="50292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enrichie par SMOTE</a:t>
            </a:r>
            <a:endParaRPr lang="en-US" sz="130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E54A5AC3-8248-2F38-E92E-032FBD79995E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RÉSULTATS &amp; EXPÉRIMENTATION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2084832" cy="137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(VP+VN) /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98064" y="17373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9" name="Shape 7"/>
          <p:cNvSpPr/>
          <p:nvPr/>
        </p:nvSpPr>
        <p:spPr>
          <a:xfrm>
            <a:off x="2798064" y="1737360"/>
            <a:ext cx="2084832" cy="137160"/>
          </a:xfrm>
          <a:prstGeom prst="rect">
            <a:avLst/>
          </a:prstGeom>
          <a:solidFill>
            <a:srgbClr val="E9B44C"/>
          </a:solidFill>
          <a:ln/>
        </p:spPr>
      </p:sp>
      <p:sp>
        <p:nvSpPr>
          <p:cNvPr id="10" name="Text 8"/>
          <p:cNvSpPr/>
          <p:nvPr/>
        </p:nvSpPr>
        <p:spPr>
          <a:xfrm>
            <a:off x="2935224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35224" y="265176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(VP+FP)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47488" y="17373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13" name="Shape 11"/>
          <p:cNvSpPr/>
          <p:nvPr/>
        </p:nvSpPr>
        <p:spPr>
          <a:xfrm>
            <a:off x="5047488" y="1737360"/>
            <a:ext cx="2084832" cy="13716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4" name="Text 12"/>
          <p:cNvSpPr/>
          <p:nvPr/>
        </p:nvSpPr>
        <p:spPr>
          <a:xfrm>
            <a:off x="5184648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84648" y="265176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/ (VP+FN)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96912" y="17373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296912" y="1737360"/>
            <a:ext cx="2084832" cy="137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434072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34072" y="265176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2×(P×R)/(P+R)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46336" y="1737360"/>
            <a:ext cx="2084832" cy="1828800"/>
          </a:xfrm>
          <a:prstGeom prst="roundRect">
            <a:avLst>
              <a:gd name="adj" fmla="val 4000"/>
            </a:avLst>
          </a:prstGeom>
          <a:solidFill>
            <a:srgbClr val="EAF0F6"/>
          </a:solidFill>
          <a:ln/>
        </p:spPr>
      </p:sp>
      <p:sp>
        <p:nvSpPr>
          <p:cNvPr id="21" name="Shape 19"/>
          <p:cNvSpPr/>
          <p:nvPr/>
        </p:nvSpPr>
        <p:spPr>
          <a:xfrm>
            <a:off x="9546336" y="1737360"/>
            <a:ext cx="2084832" cy="1371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2" name="Text 20"/>
          <p:cNvSpPr/>
          <p:nvPr/>
        </p:nvSpPr>
        <p:spPr>
          <a:xfrm>
            <a:off x="9683496" y="2057400"/>
            <a:ext cx="1810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83496" y="2651760"/>
            <a:ext cx="181051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/ (FP+VN)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pas seulement l'Accuracy ?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4480560"/>
            <a:ext cx="10424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dataset déséquilibré, un modèle prédisant toujours « normal » atteint 99,8 % d'Accuracy sans détecter aucune fraude. L'analyse s'appuie donc principalement sur le F1-Score et le Recall, complétés par la matrice de confusion et, pour K-Means, le Silhouette Score (qualité de séparation des clusters, sans besoin des vraies étiquettes).</a:t>
            </a:r>
            <a:endParaRPr lang="en-US" sz="13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7A50861E-F71A-DB65-AACD-B03FEBC24FC0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RÉSULTATS &amp; EXPÉRIMENTATION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-- Dataset déséquilibré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94760" cy="4206240"/>
          </a:xfrm>
          <a:prstGeom prst="roundRect">
            <a:avLst>
              <a:gd name="adj" fmla="val 1928"/>
            </a:avLst>
          </a:prstGeom>
          <a:solidFill>
            <a:srgbClr val="EAF0F6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194560"/>
            <a:ext cx="3337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: meilleur compromis sur les 56 962 transactions réelles (7 FP, 15 FN)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: Accuracy trompeuse (98,7 %) mais Précision de 10,7 % seulement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: Précision parfaite (100 %) mais Recall faible (35,7 %)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: meilleur équilibre Précision / Recall sur sous-ensembles équilibrés</a:t>
            </a:r>
            <a:endParaRPr lang="en-US" sz="11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B24E3D5E-FEC0-23F8-8FFE-E58DB5ECEA87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RÉSULTATS &amp; EXPÉRIMENTATION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 -- Dataset déséquilibré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234440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06524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57200" y="2903220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234440" y="2231136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56 857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06524" y="2231136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6524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34440" y="2903220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906524" y="2903220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06524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648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56 962 trans.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0" y="1645920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16459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20440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92524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43200" y="2231136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43200" y="2903220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520440" y="2231136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56 158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192524" y="2231136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92524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20440" y="2903220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192524" y="2903220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92524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43200" y="3648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56 962 trans.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1645920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6459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806440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478524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029200" y="2231136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029200" y="2903220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806440" y="2231136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478524" y="2231136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8524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806440" y="2903220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78524" y="2903220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8524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029200" y="3648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trans.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315200" y="1645920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7315200" y="16459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092440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764524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315200" y="2231136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7315200" y="2903220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092440" y="2231136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92440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8764524" y="2231136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64524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092440" y="2903220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92440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764524" y="2903220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764524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315200" y="3648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 trans.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601200" y="1645920"/>
            <a:ext cx="2121408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65" name="Text 63"/>
          <p:cNvSpPr/>
          <p:nvPr/>
        </p:nvSpPr>
        <p:spPr>
          <a:xfrm>
            <a:off x="9601200" y="1645920"/>
            <a:ext cx="21214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10378440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11050524" y="1938528"/>
            <a:ext cx="672084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9601200" y="2231136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9601200" y="2903220"/>
            <a:ext cx="731520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10378440" y="2231136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378440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394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11050524" y="2231136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050524" y="2231136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10378440" y="2903220"/>
            <a:ext cx="672084" cy="672084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378440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1050524" y="2903220"/>
            <a:ext cx="672084" cy="672084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1050524" y="2903220"/>
            <a:ext cx="672084" cy="672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</a:t>
            </a:r>
            <a:endParaRPr lang="en-US" sz="1300" dirty="0"/>
          </a:p>
        </p:txBody>
      </p:sp>
      <p:sp>
        <p:nvSpPr>
          <p:cNvPr id="78" name="Text 76"/>
          <p:cNvSpPr/>
          <p:nvPr/>
        </p:nvSpPr>
        <p:spPr>
          <a:xfrm>
            <a:off x="9601200" y="3648456"/>
            <a:ext cx="21214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 trans.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48640" y="4160520"/>
            <a:ext cx="274320" cy="274320"/>
          </a:xfrm>
          <a:prstGeom prst="rect">
            <a:avLst/>
          </a:prstGeom>
          <a:solidFill>
            <a:srgbClr val="D6EFE9"/>
          </a:solidFill>
          <a:ln/>
        </p:spPr>
      </p:sp>
      <p:sp>
        <p:nvSpPr>
          <p:cNvPr id="80" name="Text 78"/>
          <p:cNvSpPr/>
          <p:nvPr/>
        </p:nvSpPr>
        <p:spPr>
          <a:xfrm>
            <a:off x="9144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correctes (VN / VP)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572000" y="4160520"/>
            <a:ext cx="274320" cy="274320"/>
          </a:xfrm>
          <a:prstGeom prst="rect">
            <a:avLst/>
          </a:prstGeom>
          <a:solidFill>
            <a:srgbClr val="FBDEE0"/>
          </a:solidFill>
          <a:ln/>
        </p:spPr>
      </p:sp>
      <p:sp>
        <p:nvSpPr>
          <p:cNvPr id="82" name="Text 80"/>
          <p:cNvSpPr/>
          <p:nvPr/>
        </p:nvSpPr>
        <p:spPr>
          <a:xfrm>
            <a:off x="493776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(FP / FN)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0F6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: seulement 7 fausses alertes et 15 fraudes manquées sur 56 962 transactions réelles. Le SVM génère 706 fausses alertes (Précision = 10,7 % seulement). K-Means ne déclenche jamais de fausse alerte mais rate 63 fraudes sur 98. RNN et LSTM offrent le meilleur équilibre, mais sur un échantillon plus restreint.</a:t>
            </a:r>
            <a:endParaRPr lang="en-US" sz="12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2BB1D932-45DE-3906-549D-04101EF85A2C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RÉSULTATS &amp; EXPÉRIMENTATION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-- Dataset équilibré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7040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94760" cy="4206240"/>
          </a:xfrm>
          <a:prstGeom prst="roundRect">
            <a:avLst>
              <a:gd name="adj" fmla="val 1928"/>
            </a:avLst>
          </a:prstGeom>
          <a:solidFill>
            <a:srgbClr val="EAF0F6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1783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46720" y="2194560"/>
            <a:ext cx="3337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et RNN dominent : F1 = 99,9 %, Recall = 100 % (aucune fraude manquée)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linéaire conserve de bonnes performances (F1 = 96,3 %)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reste le moins performant du groupe (Silhouette Score = 0,28)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dataset équilibré « lisse » fortement les écarts entre modèles</a:t>
            </a:r>
            <a:endParaRPr lang="en-US" sz="11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2D1E55C9-D26B-3B4D-9320-E8DCD0847E82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RÉSULTATS &amp; EXPÉRIMENTATION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de confusion -- Dataset équilibré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41732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33172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22768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0080" y="31912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417320" y="22768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56 784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22768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17320" y="31912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331720" y="31912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56 863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1788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113 726 trans.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169164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Linéaire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5196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6636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474720" y="22768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74720" y="31912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251960" y="22768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55 116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66360" y="22768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1 747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51960" y="31912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5196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2 406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166360" y="31912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54 457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474720" y="41788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113 726 trans.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169164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08660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00100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309360" y="22768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09360" y="31912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086600" y="22768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54 005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001000" y="22768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2 858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086600" y="31912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7 934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01000" y="31912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0100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48 929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309360" y="41788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113 726 trans.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9144000" y="1691640"/>
            <a:ext cx="2606040" cy="384048"/>
          </a:xfrm>
          <a:prstGeom prst="roundRect">
            <a:avLst>
              <a:gd name="adj" fmla="val 11905"/>
            </a:avLst>
          </a:prstGeom>
          <a:solidFill>
            <a:srgbClr val="1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9144000" y="16916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992124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0835640" y="19842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9144000" y="22768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9144000" y="3191256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9921240" y="22768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2124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56 761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10835640" y="22768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835640" y="22768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921240" y="3191256"/>
            <a:ext cx="914400" cy="914400"/>
          </a:xfrm>
          <a:prstGeom prst="rect">
            <a:avLst/>
          </a:prstGeom>
          <a:solidFill>
            <a:srgbClr val="FBDEE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2124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0835640" y="3191256"/>
            <a:ext cx="914400" cy="914400"/>
          </a:xfrm>
          <a:prstGeom prst="rect">
            <a:avLst/>
          </a:prstGeom>
          <a:solidFill>
            <a:srgbClr val="D6EFE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835640" y="319125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56 863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9144000" y="417880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113 726 trans.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4480560"/>
            <a:ext cx="274320" cy="274320"/>
          </a:xfrm>
          <a:prstGeom prst="rect">
            <a:avLst/>
          </a:prstGeom>
          <a:solidFill>
            <a:srgbClr val="D6EFE9"/>
          </a:solidFill>
          <a:ln/>
        </p:spPr>
      </p:sp>
      <p:sp>
        <p:nvSpPr>
          <p:cNvPr id="65" name="Text 63"/>
          <p:cNvSpPr/>
          <p:nvPr/>
        </p:nvSpPr>
        <p:spPr>
          <a:xfrm>
            <a:off x="100584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Prédictions correctes (VN / VP)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663440" y="4480560"/>
            <a:ext cx="274320" cy="274320"/>
          </a:xfrm>
          <a:prstGeom prst="rect">
            <a:avLst/>
          </a:prstGeom>
          <a:solidFill>
            <a:srgbClr val="FBDEE0"/>
          </a:solidFill>
          <a:ln/>
        </p:spPr>
      </p:sp>
      <p:sp>
        <p:nvSpPr>
          <p:cNvPr id="67" name="Text 65"/>
          <p:cNvSpPr/>
          <p:nvPr/>
        </p:nvSpPr>
        <p:spPr>
          <a:xfrm>
            <a:off x="502920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(FP / FN)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0F6"/>
          </a:solidFill>
          <a:ln/>
        </p:spPr>
      </p:sp>
      <p:sp>
        <p:nvSpPr>
          <p:cNvPr id="69" name="Text 67"/>
          <p:cNvSpPr/>
          <p:nvPr/>
        </p:nvSpPr>
        <p:spPr>
          <a:xfrm>
            <a:off x="822960" y="5120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et RNN ne manquent aucune fraude sur les 56 863 fraudes du test (FN = 0). Le SVM linéaire commet plus d'erreurs (2 406 fraudes manquées). K-Means reste le moins précis, avec 7 934 fraudes non détectées.</a:t>
            </a:r>
            <a:endParaRPr lang="en-US" sz="12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075B0E95-E9A3-CB8A-CABF-41198E1D9588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III. RÉSULTATS &amp; EXPÉRIMENTATION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comparative avec les travaux connexes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635846"/>
              </p:ext>
            </p:extLst>
          </p:nvPr>
        </p:nvGraphicFramePr>
        <p:xfrm>
          <a:off x="548640" y="1691640"/>
          <a:ext cx="11064240" cy="26517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Popova &amp; Gardi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complet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Zhou et al. (2025)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RNN-LSTM hybride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complet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90,6 %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80,6 %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Notre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complet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92,2 %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Notre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Équilibré (197)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94,7 %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Notre </a:t>
                      </a:r>
                      <a:r>
                        <a:rPr lang="en-US" sz="1200" b="1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approche</a:t>
                      </a: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(2026)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Équilibré (499)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93,7 %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89,9 %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1772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EAF0F6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80060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Random Forest développé dans ce mémoire dépasse Popova &amp; Gardi (F1 = 88,3 % contre 85,8 %). Le RNN et le LSTM dépassent le modèle hybride de Zhou et al., avec la réserve méthodologique que ces évaluations portent sur un sous-ensemble équilibré et non l'ensemble réel complet.</a:t>
            </a:r>
            <a:endParaRPr lang="en-US" sz="135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8EBBA4F3-7866-E166-F79C-2286216F440F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BD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BDAE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résultats et </a:t>
            </a:r>
            <a:r>
              <a:rPr lang="en-US" sz="1600" i="1" dirty="0" err="1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</a:t>
            </a: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futures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EyebrowBig"/>
          <p:cNvSpPr/>
          <p:nvPr/>
        </p:nvSpPr>
        <p:spPr>
          <a:xfrm>
            <a:off x="548640" y="274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IV. CONCLUSION &amp; PERSPECTIVES</a:t>
            </a:r>
            <a:endParaRPr lang="en-US" sz="2400" dirty="0"/>
          </a:p>
        </p:txBody>
      </p:sp>
      <p:sp>
        <p:nvSpPr>
          <p:cNvPr id="901" name="TitleSmall"/>
          <p:cNvSpPr/>
          <p:nvPr/>
        </p:nvSpPr>
        <p:spPr>
          <a:xfrm>
            <a:off x="548640" y="8686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et perspectives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EAF0F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: choix le plus fiable en conditions réelles déséquilibrées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: le plus sensible au déséquilibre malgré SMOTE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: limites confirmées pour ce problème supervisé par nature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: piste prometteuse, à valider sur données réelles complètes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349240" cy="4206240"/>
          </a:xfrm>
          <a:prstGeom prst="roundRect">
            <a:avLst>
              <a:gd name="adj" fmla="val 173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9B4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37960" y="22860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Ré-évaluer RNN / LSTM sur l'ensemble de test réel complet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systématique des hyperparamètres (grid search)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les architectures Transformer / attention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l'apprentissage en ligne et la robustesse adverse</a:t>
            </a:r>
            <a:endParaRPr lang="en-US" sz="1300" dirty="0"/>
          </a:p>
        </p:txBody>
      </p:sp>
      <p:sp>
        <p:nvSpPr>
          <p:cNvPr id="2" name="Text 14">
            <a:extLst>
              <a:ext uri="{FF2B5EF4-FFF2-40B4-BE49-F238E27FC236}">
                <a16:creationId xmlns:a16="http://schemas.microsoft.com/office/drawing/2014/main" id="{DB1CCCFE-6356-BCE2-74B7-6E7C2E58AF1E}"/>
              </a:ext>
            </a:extLst>
          </p:cNvPr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/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BDA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2296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7|0.7|0.7|0.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2086</Words>
  <Application>Microsoft Office PowerPoint</Application>
  <PresentationFormat>Grand écran</PresentationFormat>
  <Paragraphs>488</Paragraphs>
  <Slides>25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16</cp:revision>
  <dcterms:created xsi:type="dcterms:W3CDTF">2026-07-19T19:06:46Z</dcterms:created>
  <dcterms:modified xsi:type="dcterms:W3CDTF">2026-09-29T13:34:00Z</dcterms:modified>
</cp:coreProperties>
</file>